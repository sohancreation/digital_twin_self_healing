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RESEARCH MASTER PLAN &amp; PROTOTYPE VALIDATION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Digital Twin-Based Cyber Attack Detection and Self-Healing for Resource-Constrained IoT Networks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 Reproducible, Closed-Loop Resilience Architecture from Simulation to ESP32/LoRa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24231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Simulator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● VALIDATED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56 Tests PASS</a:t>
            </a:r>
            <a:br/>
            <a:r>
              <a:t>Physics &amp; Energy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297680"/>
            <a:ext cx="24231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42976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Digital Twin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● VALIDATED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68 Tests PASS</a:t>
            </a:r>
            <a:br/>
            <a:r>
              <a:t>0.009 ms Sync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24231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2976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Attack Sim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● VALIDATED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87 Tests PASS</a:t>
            </a:r>
            <a:br/>
            <a:r>
              <a:t>DoS, Drop, Failure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297680"/>
            <a:ext cx="24231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429768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4: Feature Eng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● VALIDATED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94 Tests PASS</a:t>
            </a:r>
            <a:br/>
            <a:r>
              <a:t>95 Multi-Scale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MOTIVATION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Research Problem: The IoT Security &amp; Resilience Trilemma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Resource-Constrained Dilemma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Extreme Compute &amp; Energy Constraints: </a:t>
            </a:r>
            <a:r>
              <a:rPr b="0">
                <a:solidFill>
                  <a:srgbClr val="64748B"/>
                </a:solidFill>
              </a:rPr>
              <a:t>Microcontrollers (e.g. ESP32, 240MHz, 520KB SRAM) and battery-powered nodes cannot sustain heavyweight IDS classifiers, deep neural networks, or complex routing recalculations.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Fragility to Multi-Vector Attacks: </a:t>
            </a:r>
            <a:r>
              <a:rPr b="0">
                <a:solidFill>
                  <a:srgbClr val="64748B"/>
                </a:solidFill>
              </a:rPr>
              <a:t>Resource-constrained networks are vulnerable to Denial-of-Service (DoS) buffer exhaustion, gray-hole selective packet dropping, and abrupt node failure outages.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The Recovery Paradox: </a:t>
            </a:r>
            <a:r>
              <a:rPr b="0">
                <a:solidFill>
                  <a:srgbClr val="64748B"/>
                </a:solidFill>
              </a:rPr>
              <a:t>Uncoordinated node isolation often causes unintended routing partitions, loop formations, or cascade failures across the topology.</a:t>
            </a:r>
          </a:p>
          <a:p>
            <a:pPr>
              <a:spcBef>
                <a:spcPts val="800"/>
              </a:spcBef>
              <a:defRPr b="1" sz="1100">
                <a:solidFill>
                  <a:srgbClr val="0F172A"/>
                </a:solidFill>
              </a:defRPr>
            </a:pPr>
            <a:r>
              <a:t>• Hardware Validation Gap: </a:t>
            </a:r>
            <a:r>
              <a:rPr b="0">
                <a:solidFill>
                  <a:srgbClr val="64748B"/>
                </a:solidFill>
              </a:rPr>
              <a:t>Most literature either remains in abstract software simulation (NS-3/Matlab) or deploys unverified ad-hoc heuristics directly on hardware without safe pre-evaluation.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The Digital Twin Solution Paradigm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Decoupled Intelligence: </a:t>
            </a:r>
            <a:r>
              <a:rPr b="0">
                <a:solidFill>
                  <a:srgbClr val="64748B"/>
                </a:solidFill>
              </a:rPr>
              <a:t>Physical nodes stream ultra-lightweight telemetry (TelemetryRecord). Heavy computation (ML detection, feature extraction, graph optimization) is offloaded to the Digital Twin at the edge server.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Living Virtual Shadow: </a:t>
            </a:r>
            <a:r>
              <a:rPr b="0">
                <a:solidFill>
                  <a:srgbClr val="64748B"/>
                </a:solidFill>
              </a:rPr>
              <a:t>The Digital Twin maintains continuous, validated state synchronization of every node, active link condition, and historical time-series buffer.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In-Silico Recovery Simulation (Core Novelty): </a:t>
            </a:r>
            <a:r>
              <a:rPr b="0">
                <a:solidFill>
                  <a:srgbClr val="64748B"/>
                </a:solidFill>
              </a:rPr>
              <a:t>Before issuing actuation commands to the physical network, the Digital Twin clones the current network state into a virtual sandbox and simulates candidate recovery actions.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Multi-Objective Optimization: </a:t>
            </a:r>
            <a:r>
              <a:rPr b="0">
                <a:solidFill>
                  <a:srgbClr val="64748B"/>
                </a:solidFill>
              </a:rPr>
              <a:t>Selects the optimal self-healing policy balancing packet loss, latency stretch, energy consumption, and communication overhead.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Hardware Portability: </a:t>
            </a:r>
            <a:r>
              <a:rPr b="0">
                <a:solidFill>
                  <a:srgbClr val="64748B"/>
                </a:solidFill>
              </a:rPr>
              <a:t>Invariant telemetry contract allows seamless transfer from Python simulation to physical ESP32 + LoRa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SCIENTIFIC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Research Questions Guiding the Experimental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RQ1: State Synchronization &amp; Overhead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Can a low-overhead, event-driven telemetry ingestion protocol maintain high-fidelity synchronization between constrained IoT nodes and their Digital Twin shadow without battery degradation?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RQ2: Telemetry-Driven ML Attack Detection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How accurately and with what detection latency can lightweight, interpretable machine learning models identify DoS, selective forwarding, and node failure anomalies using temporal rolling features?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RQ3: Dynamic Behavioral Risk Modeling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How can multi-factor physical indicators (forwarding fidelity, energy drain drift, and channel loss consistency) be synthesized into a dynamic node trust score without arbitrary heuristics?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RQ4: Pre-Execution Recovery Simulation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Does forward-simulating candidate recovery strategies inside the Digital Twin prior to live actuation reduce recovery failures, prevent network partitioning, and minimize Mean Time to Recovery (MTTR)?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RQ5: Scalability &amp; Resilience Quantification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How does the closed-loop self-healing framework scale across network sizes (N = 6 to 100 nodes) in terms of computational overhead, communication overhead, and network availability?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5394960" cy="1508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RQ6: Hardware Portability (Sim-to-Real)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Can the identical Digital Twin and self-healing software pipeline ingest telemetry and actuate recovery on physical ESP32 microcontrollers over LoRa without architectural redesign?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Global Closed-Loop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closed_loop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94415" cy="2103120"/>
          </a:xfrm>
          <a:prstGeom prst="rect">
            <a:avLst/>
          </a:prstGeom>
        </p:spPr>
      </p:pic>
      <p:pic>
        <p:nvPicPr>
          <p:cNvPr id="7" name="Picture 6" descr="diagram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1109441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Complete 13-Phase Incremental Research Progression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ram_13_phas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4415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297680"/>
            <a:ext cx="11094415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Phase Progression &amp; Milestone Governance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Phases 1–4 (COMPLETED &amp; VALIDATED - 94 Unit Tests Passing):</a:t>
            </a:r>
            <a:br/>
            <a:r>
              <a:t>   - Established reproducible network simulator, Digital Twin state synchronizer, 3 threat models, and 95 engineered temporal features.</a:t>
            </a:r>
            <a:br/>
            <a:r>
              <a:t>• Phases 5–9 (CORE INTELLIGENCE &amp; HEALING - Current Stage):</a:t>
            </a:r>
            <a:br/>
            <a:r>
              <a:t>   - ML detection (Phase 5), Dynamic trust engine (Phase 6), Candidate generation (Phase 7), In-silico DT simulation (Phase 8), Self-healing (Phase 9).</a:t>
            </a:r>
            <a:br/>
            <a:r>
              <a:t>• Phases 10–13 (VALIDATION, SCALABILITY &amp; HARDWARE):</a:t>
            </a:r>
            <a:br/>
            <a:r>
              <a:t>   - Research dashboard (Phase 10), Benchmark ablation framework (Phase 11), Scalability to 100 nodes (Phase 12), Physical ESP32 + LoRa testbed (Phase 13).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1 -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1: IoT Network Simulator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9436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Mathematical &amp; Physics Models (backend/simulation/)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Wireless Channel Propagation (Log-Distance Path Loss):</a:t>
            </a:r>
            <a:br/>
            <a:r>
              <a:t>   RSSI(d) = RSSI_0 - 10 * eta * log10(d / d_0) + X_sigma</a:t>
            </a:r>
            <a:br/>
            <a:r>
              <a:t>   eta = 2.8, RSSI_0 = -30 dBm, sigma = 2.0 dB (shadow fading)</a:t>
            </a:r>
            <a:br/>
            <a:br/>
            <a:r>
              <a:t>• FIFO Buffer Queuing &amp; Drop-Tail Packet Loss:</a:t>
            </a:r>
            <a:br/>
            <a:r>
              <a:t>   P_loss = P_buffer_overflow + (1 - P_buffer_overflow) * P_channel_error</a:t>
            </a:r>
            <a:br/>
            <a:r>
              <a:t>   Q_max = 50 packets capacity, Sigmoid sensitivity threshold = -100 dBm</a:t>
            </a:r>
            <a:br/>
            <a:br/>
            <a:r>
              <a:t>• Computational Resource Coupling:</a:t>
            </a:r>
            <a:br/>
            <a:r>
              <a:t>   CPU(t) = min(100%, CPU_base + alpha * (lambda_gen + lambda_fwd) + eps_cpu)</a:t>
            </a:r>
            <a:br/>
            <a:r>
              <a:t>   RAM(t) = min(100%, RAM_base + (Q_len / Q_max) * 42.5% + beta * N_new)</a:t>
            </a:r>
            <a:br/>
            <a:br/>
            <a:r>
              <a:t>• Monotonic Battery Depletion Model:</a:t>
            </a:r>
            <a:br/>
            <a:r>
              <a:t>   E(t + dt) = E(t) - [P_idle * dt + E_tx * N_tx + E_rx * N_rx]</a:t>
            </a:r>
            <a:br/>
            <a:r>
              <a:t>   E_max = 1000 J, P_idle = 15 mW, E_tx = 8 mJ/pkt, E_rx = 4 mJ/pkt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371600"/>
            <a:ext cx="48463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ot6_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4805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1 -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1: Baseline Simulation Results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0292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Baseline Statistics (6 Nodes, 300s, Seed=42)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Total Records Generated: 1,800 records</a:t>
            </a:r>
            <a:br/>
            <a:r>
              <a:t>• Mean Packet Generation: 2.01 pkts/s (std: 0.45)</a:t>
            </a:r>
            <a:br/>
            <a:r>
              <a:t>• Mean Forwarding Rate: 1.35 pkts/s (std: 1.90)</a:t>
            </a:r>
            <a:br/>
            <a:r>
              <a:t>• Mean Packet Loss Ratio: 0.0246 (2.46% nominal channel loss)</a:t>
            </a:r>
            <a:br/>
            <a:r>
              <a:t>• Mean End-to-End Latency: 28.08 ms (queuing + radio tx)</a:t>
            </a:r>
            <a:br/>
            <a:r>
              <a:t>• Mean RSSI: -81.39 dBm</a:t>
            </a:r>
            <a:br/>
            <a:r>
              <a:t>• Mean CPU Load: 11.05% (std: 3.53%)</a:t>
            </a:r>
            <a:br/>
            <a:r>
              <a:t>• Mean Memory Load: 17.69% (std: 1.59%)</a:t>
            </a:r>
            <a:br/>
            <a:r>
              <a:t>• Mean Remaining Battery: 98.91% (smooth linear discharge)</a:t>
            </a:r>
            <a:br/>
            <a:br/>
            <a:r>
              <a:t>Validation Status:</a:t>
            </a:r>
            <a:br/>
            <a:r>
              <a:t>✔ 56/56 Unit Tests Passed</a:t>
            </a:r>
            <a:br/>
            <a:r>
              <a:t>✔ Strict Determinism: seed=42 run 1 == run 2 (exact float match)</a:t>
            </a:r>
            <a:br/>
            <a:r>
              <a:t>✔ Scalability: Verified on 6, 10, 20, 50, and 100 nodes across Grid, Random, Mesh, Ring, Star topologies.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371600"/>
            <a:ext cx="57607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ot1_packet_rate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2 -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2: Digital Twin State Synchronizer &amp; Shadow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Digital Twin Architecture (backend/digital_twin/)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Invariant Telemetry Contract:</a:t>
            </a:r>
            <a:br/>
            <a:r>
              <a:t>   Ingests TelemetryRecord directly without schema pollution or hardcoded physical dependencies.</a:t>
            </a:r>
            <a:br/>
            <a:br/>
            <a:r>
              <a:t>• Virtual Node Shadow Model (TwinNodeState):</a:t>
            </a:r>
            <a:br/>
            <a:r>
              <a:t>   Maintains real-time physical, computational, and channel states for every active network node.</a:t>
            </a:r>
            <a:br/>
            <a:br/>
            <a:r>
              <a:t>• Bounded Temporal History Manager (HistoryManager):</a:t>
            </a:r>
            <a:br/>
            <a:r>
              <a:t>   Maintains rolling deques with configurable retention (W = 60s). Automatically prunes expired records to guarantee bounded RAM overhead.</a:t>
            </a:r>
            <a:br/>
            <a:br/>
            <a:r>
              <a:t>• Topology Shadow Graph (NetworkTopologyModel):</a:t>
            </a:r>
            <a:br/>
            <a:r>
              <a:t>   NetworkX-backed dynamic graph tracking directional link states, active adjacency, and connected components.</a:t>
            </a:r>
            <a:br/>
            <a:br/>
            <a:r>
              <a:t>• Software Synchronization Latency Benchmark:</a:t>
            </a:r>
            <a:br/>
            <a:r>
              <a:t>   Mean: 0.0090 ms | Min: 0.0052 ms | Max: 3.9694 ms</a:t>
            </a:r>
            <a:br/>
            <a:r>
              <a:t>   Demonstrates sub-millisecond edge software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2_plot4_sync_latency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2 -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2: Digital Twin Fidelity &amp; Health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4008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2_plot5_topolo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03504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371600"/>
            <a:ext cx="43891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4023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Descriptive Network Health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Deterministic Health Classification:</a:t>
            </a:r>
            <a:br/>
            <a:r>
              <a:t>   Strictly metric-driven; avoids arbitrary ML black-box scoring during baseline synchronization.</a:t>
            </a:r>
            <a:br/>
            <a:br/>
            <a:r>
              <a:t>• Classification Thresholds:</a:t>
            </a:r>
            <a:br/>
            <a:r>
              <a:t>   - HEALTHY: Connected ratio &gt;= 0.90, loss &lt; 0.10, and 0 degraded nodes.</a:t>
            </a:r>
            <a:br/>
            <a:r>
              <a:t>   - DEGRADED: Connected ratio &gt;= 0.50 and loss &lt; 0.40.</a:t>
            </a:r>
            <a:br/>
            <a:r>
              <a:t>   - CRITICAL: Connected ratio &lt; 0.50 or loss &gt;= 0.40.</a:t>
            </a:r>
            <a:br/>
            <a:br/>
            <a:r>
              <a:t>• State Fidelity Verification:</a:t>
            </a:r>
            <a:br/>
            <a:r>
              <a:t>   - 68/68 Tests Passing.</a:t>
            </a:r>
            <a:br/>
            <a:r>
              <a:t>   - Exact float-level match between simulator telemetry and Digital Twin query API.</a:t>
            </a:r>
            <a:br/>
            <a:r>
              <a:t>   - Disconnected nodes naturally sever incident edges in the virtual shadow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3 -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3: Controlled Cyberattack Injection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DoS / Packet Flooding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backend/attacks/dos.py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Floods target node buffer with surge traffic (intensity = 20 pkts/s).</a:t>
            </a:r>
            <a:br/>
            <a:br/>
            <a:r>
              <a:t>Physical Propagation:</a:t>
            </a:r>
            <a:br/>
            <a:r>
              <a:t>• Queue saturation (Q_len -&gt; 50)</a:t>
            </a:r>
            <a:br/>
            <a:r>
              <a:t>• Drop-tail buffer packet loss</a:t>
            </a:r>
            <a:br/>
            <a:r>
              <a:t>• CPU load surges (11% -&gt; 49%)</a:t>
            </a:r>
            <a:br/>
            <a:r>
              <a:t>• Latency surges (28ms -&gt; 91ms)</a:t>
            </a:r>
            <a:br/>
            <a:r>
              <a:t>• Accelerated battery drain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5087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Compromised Node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backend/attacks/compromised_node.py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Simulates internal malicious gray-hole selectively dropping forwarded packets.</a:t>
            </a:r>
            <a:br/>
            <a:br/>
            <a:r>
              <a:t>Physical Propagation:</a:t>
            </a:r>
            <a:br/>
            <a:r>
              <a:t>• Binomial drop probability p = 0.50</a:t>
            </a:r>
            <a:br/>
            <a:r>
              <a:t>• Downstream throughput suppressed</a:t>
            </a:r>
            <a:br/>
            <a:r>
              <a:t>• Observed packet loss: 2.65% -&gt; 51.32%</a:t>
            </a:r>
            <a:br/>
            <a:r>
              <a:t>• Matches intensity with binomial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56616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5087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Node Failure / Outage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backend/attacks/node_failure.py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Simulates transceiver failure, power loss, or processor crash.</a:t>
            </a:r>
            <a:br/>
            <a:br/>
            <a:r>
              <a:t>Physical Propagation:</a:t>
            </a:r>
            <a:br/>
            <a:r>
              <a:t>• State -&gt; DISCONNECTED</a:t>
            </a:r>
            <a:br/>
            <a:r>
              <a:t>• Ceases transmission &amp; forwarding</a:t>
            </a:r>
            <a:br/>
            <a:r>
              <a:t>• Network availability: 1.0 -&gt; 0.833</a:t>
            </a:r>
            <a:br/>
            <a:r>
              <a:t>• Clean reboot post-attack if energy &gt;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3 -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3: Observable Attack Effects &amp; Non-Interference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3_plot1_dos_packe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21208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931920"/>
            <a:ext cx="539496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3_plot4_compromised_node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39"/>
            <a:ext cx="5212080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371600"/>
            <a:ext cx="539496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hase3_plot5_node_failure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212080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3931920"/>
            <a:ext cx="5394960" cy="2423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ase3_plot6_network_avail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77639"/>
            <a:ext cx="5212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3 -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3: Multi-Scenario Combined Attack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4415" cy="2743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3_plot7_combined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2606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206240"/>
            <a:ext cx="11094415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3_plot8_ground_truth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51960"/>
            <a:ext cx="106984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4 -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4: Dataset &amp; Feature Engineering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Multi-Scale Temporal Windows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Rolling Stats: W = 5s, 15s, 30s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</a:defRPr>
            </a:pPr>
            <a:r>
              <a:t>Computed per node for 6 core metrics:</a:t>
            </a:r>
            <a:br/>
            <a:r>
              <a:t>• Rolling Mean (mu_W)</a:t>
            </a:r>
            <a:br/>
            <a:r>
              <a:t>• Rolling Std (sigma_W)</a:t>
            </a:r>
            <a:br/>
            <a:r>
              <a:t>• Rolling Min &amp; Max (min_W, max_W)</a:t>
            </a:r>
            <a:br/>
            <a:br/>
            <a:r>
              <a:t>Rationale: W=5s isolates sudden bursts (DoS); W=30s isolates slow battery drain &amp; gray-hole drops.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Rate-of-Change Derivatives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Temporal Acceleration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</a:defRPr>
            </a:pPr>
            <a:r>
              <a:t>First-order derivatives (dx/dt):</a:t>
            </a:r>
            <a:br/>
            <a:r>
              <a:t>• delta_packet_rate / dt</a:t>
            </a:r>
            <a:br/>
            <a:r>
              <a:t>• delta_forwarding_rate / dt</a:t>
            </a:r>
            <a:br/>
            <a:r>
              <a:t>• delta_cpu / dt</a:t>
            </a:r>
            <a:br/>
            <a:r>
              <a:t>• delta_latency / dt</a:t>
            </a:r>
            <a:br/>
            <a:r>
              <a:t>• energy_drain_rate = -dE/dt</a:t>
            </a:r>
            <a:br/>
            <a:br/>
            <a:r>
              <a:t>Instantly catches explosive inflection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Domain Context Ratios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Physical Interaction Features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</a:defRPr>
            </a:pPr>
            <a:r>
              <a:t>Engineered IoT domain features:</a:t>
            </a:r>
            <a:br/>
            <a:r>
              <a:t>• Forwarding Ratio:</a:t>
            </a:r>
            <a:br/>
            <a:r>
              <a:t>   N_fwd / (N_gen + N_fwd + 1e-6)</a:t>
            </a:r>
            <a:br/>
            <a:r>
              <a:t>• Congestion Index:</a:t>
            </a:r>
            <a:br/>
            <a:r>
              <a:t>   Latency / max(1, |RSSI|)</a:t>
            </a:r>
            <a:br/>
            <a:r>
              <a:t>• Traffic-to-CPU Ratio:</a:t>
            </a:r>
            <a:br/>
            <a:r>
              <a:t>   Total Traffic / max(1, CPU)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Spatial Discrepancy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Macro Network Baseline</a:t>
            </a:r>
          </a:p>
          <a:p>
            <a:pPr>
              <a:spcBef>
                <a:spcPts val="800"/>
              </a:spcBef>
              <a:defRPr sz="900">
                <a:solidFill>
                  <a:srgbClr val="0F172A"/>
                </a:solidFill>
              </a:defRPr>
            </a:pPr>
            <a:r>
              <a:t>Deviations from instantaneous network average at timestamp t:</a:t>
            </a:r>
            <a:br/>
            <a:r>
              <a:t>• cpu_network_discrepancy</a:t>
            </a:r>
            <a:br/>
            <a:r>
              <a:t>• loss_network_discrepancy</a:t>
            </a:r>
            <a:br/>
            <a:r>
              <a:t>• latency_network_discrepancy</a:t>
            </a:r>
            <a:br/>
            <a:br/>
            <a:r>
              <a:t>Isolates anomalous node behavior from general network 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4 -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4: Data Leakage Safeguards &amp; Partition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4_plot1_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Strict Data Leakage Prevention Protocols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Strict Causal Backward-Looking Windows:</a:t>
            </a:r>
            <a:br/>
            <a:r>
              <a:t>   Rolling features use strictly backward windows ([t - W, t], closed='right').</a:t>
            </a:r>
            <a:br/>
            <a:r>
              <a:t>   Proven by test_zero_future_leakage: changing future data at t=40s causes ZERO change to feature vectors at t &lt;= 30s.</a:t>
            </a:r>
            <a:br/>
            <a:br/>
            <a:r>
              <a:t>• Train-Only Scaler Parameter Fitting:</a:t>
            </a:r>
            <a:br/>
            <a:r>
              <a:t>   Z-score parameters (means mu, stds sigma) are fitted STRICTLY on the training split (t &lt;= 209s) and frozen in feature_metadata.json.</a:t>
            </a:r>
            <a:br/>
            <a:br/>
            <a:r>
              <a:t>• Dataset Partitioning (models/datasets/):</a:t>
            </a:r>
            <a:br/>
            <a:r>
              <a:t>   - Training Set: 1,260 records (70%, t &lt;= 209s)</a:t>
            </a:r>
            <a:br/>
            <a:r>
              <a:t>   - Validation Set: 270 records (15%, 210s &lt; t &lt;= 254s)</a:t>
            </a:r>
            <a:br/>
            <a:r>
              <a:t>   - Chronological Test Set: 270 records (15%, t &gt;= 255s)</a:t>
            </a:r>
            <a:br/>
            <a:r>
              <a:t>   - Cross-Seed Test Set: 1,800 records (Seed 43, Attack Seed 2001) for out-of-sample stochastic generalization.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4 - COMPLETED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4: Feature Responsiveness &amp; Statistical Separability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4_plot2_feature_distributions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12064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4_plot3_multiscale_window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08760"/>
            <a:ext cx="49377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5 - READY TO COMMENCE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5 (Next Stage): Machine Learning Attack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Model Selection Strategy (backend/detection/)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Model Hierarchy (Interpretable Baselines First):</a:t>
            </a:r>
            <a:br/>
            <a:r>
              <a:t>   1. Regularized Logistic Regression: Linear benchmark, L1/L2 penalty for feature sparsity.</a:t>
            </a:r>
            <a:br/>
            <a:r>
              <a:t>   2. Random Forest Classifier: Robust non-linear tree ensemble; captures feature interactions.</a:t>
            </a:r>
            <a:br/>
            <a:r>
              <a:t>   3. XGBoost / LightGBM: State-of-the-art gradient boosting for tabular telemetry; handles class imbalance via scale_pos_weight.</a:t>
            </a:r>
            <a:br/>
            <a:br/>
            <a:r>
              <a:t>• Dual Target Classification Tasks:</a:t>
            </a:r>
            <a:br/>
            <a:r>
              <a:t>   - Binary Detection: Benign vs Attack (target_binary).</a:t>
            </a:r>
            <a:br/>
            <a:r>
              <a:t>   - Multi-Class Identification: Normal, DoS, Compromised, Node Failure (target_multiclass).</a:t>
            </a:r>
            <a:br/>
            <a:br/>
            <a:r>
              <a:t>• Zero-Day Anomaly Detection (Secondary):</a:t>
            </a:r>
            <a:br/>
            <a:r>
              <a:t>   Isolation Forest / Autoencoder trained strictly on benign baseline to flag unmodeled zero-day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Academic Evaluation Metrics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Rigorous Classification Metrics:</a:t>
            </a:r>
            <a:br/>
            <a:r>
              <a:t>   - Precision, Recall, Macro/Weighted F1-Score</a:t>
            </a:r>
            <a:br/>
            <a:r>
              <a:t>   - ROC-AUC &amp; Precision-Recall AUC (PR-AUC)</a:t>
            </a:r>
            <a:br/>
            <a:r>
              <a:t>   - False Positive Rate (FPR) &amp; False Negative Rate (FNR)</a:t>
            </a:r>
            <a:br/>
            <a:br/>
            <a:r>
              <a:t>• Real-Time Operational Performance:</a:t>
            </a:r>
            <a:br/>
            <a:r>
              <a:t>   - Inference Latency per sample (microseconds)</a:t>
            </a:r>
            <a:br/>
            <a:r>
              <a:t>   - Detection Delay (timesteps from attack onset to alarm)</a:t>
            </a:r>
            <a:br/>
            <a:r>
              <a:t>   - Model memory footprint (KB, evaluating TinyML edge gateway viability)</a:t>
            </a:r>
            <a:br/>
            <a:br/>
            <a:r>
              <a:t>• Generalization Validation Gate:</a:t>
            </a:r>
            <a:br/>
            <a:r>
              <a:t>   - Evaluation on Chronological Test Split</a:t>
            </a:r>
            <a:br/>
            <a:r>
              <a:t>   - Evaluation on Independent Cross-Seed Test Set (Seed 43)</a:t>
            </a:r>
            <a:br/>
            <a:r>
              <a:t>   - Export calibrated posterior probabilities P(Attack | x) to feed Phase 6 Trust Engine.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6 -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6: Dynamic Risk &amp; Node Trust Assessment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Multi-Factor Behavioral Trust Formulation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Trust Score for Node i at time t:</a:t>
            </a:r>
            <a:br/>
            <a:br/>
            <a:r>
              <a:t>T_i(t) = w_fwd * T_fwd(i, t) + w_nrg * T_nrg(i, t) + </a:t>
            </a:r>
            <a:br/>
            <a:r>
              <a:t>         w_loss * T_loss(i, t) + w_ml * (1 - P_attack(i, t))</a:t>
            </a:r>
            <a:br/>
            <a:br/>
            <a:r>
              <a:t>Where:</a:t>
            </a:r>
            <a:br/>
            <a:r>
              <a:t>• T_fwd: Forwarding Consistency Trust</a:t>
            </a:r>
            <a:br/>
            <a:r>
              <a:t>   Ratio of observed forwarded packets to expected transit packets.</a:t>
            </a:r>
            <a:br/>
            <a:r>
              <a:t>• T_nrg: Energy Depletion Trust</a:t>
            </a:r>
            <a:br/>
            <a:r>
              <a:t>   Divergence between theoretical power model and observed drain.</a:t>
            </a:r>
            <a:br/>
            <a:r>
              <a:t>• T_loss: Channel-Consistent Loss Trust</a:t>
            </a:r>
            <a:br/>
            <a:r>
              <a:t>   Penalizes loss ratios exceeding physical log-distance expectations.</a:t>
            </a:r>
            <a:br/>
            <a:r>
              <a:t>• P_attack: Calibrated ML posterior attack probability from Phase 5.</a:t>
            </a:r>
            <a:br/>
            <a:br/>
            <a:r>
              <a:t>Weights constraint: w_fwd + w_nrg + w_loss + w_ml =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Trust Decay, Penalty &amp; Recovery Dynamics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Asymmetric Penalty vs Recovery:</a:t>
            </a:r>
            <a:br/>
            <a:r>
              <a:t>   - Swift Penalty: Exponential trust decay upon detected malicious activity:</a:t>
            </a:r>
            <a:br/>
            <a:r>
              <a:t>     T(t) = T(t-1) * exp(-lambda_penalty * severity)</a:t>
            </a:r>
            <a:br/>
            <a:r>
              <a:t>   - Cautious Recovery: Slow logarithmic reinstatement post-attack to prevent on-off strategic attackers.</a:t>
            </a:r>
            <a:br/>
            <a:br/>
            <a:r>
              <a:t>• Rigorous Sensitivity Analysis Protocol:</a:t>
            </a:r>
            <a:br/>
            <a:r>
              <a:t>   Systematically sweep weights (w_fwd, w_nrg, w_loss, w_ml) across a Dirichlet simplex grid to eliminate arbitrary heuristic bias.</a:t>
            </a:r>
            <a:br/>
            <a:br/>
            <a:r>
              <a:t>• Threshold Integration with Phase 7:</a:t>
            </a:r>
            <a:br/>
            <a:r>
              <a:t>   - Nominal: T &gt; 0.75 (Fully Trusted)</a:t>
            </a:r>
            <a:br/>
            <a:r>
              <a:t>   - Suspicious: 0.40 &lt;= T &lt;= 0.75 (Candidate for Rate Limiting / Reroute)</a:t>
            </a:r>
            <a:br/>
            <a:r>
              <a:t>   - Malicious: T &lt; 0.40 (Triggers In-Silico Recovery Simulation)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7 -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7: Candidate Recovery Strategy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STRATEGY 1: Node Isolation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Total Link Quarantine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Completely sever all incident logical edges to target node.</a:t>
            </a:r>
            <a:br/>
            <a:br/>
            <a:r>
              <a:t>Pros:</a:t>
            </a:r>
            <a:br/>
            <a:r>
              <a:t>• 100% containment of malicious traffic.</a:t>
            </a:r>
            <a:br/>
            <a:r>
              <a:t>Risks:</a:t>
            </a:r>
            <a:br/>
            <a:r>
              <a:t>• Risk of graph partition / unreachable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STRATEGY 2: Dynamic Rerouting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Topology Bypass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Recompute shortest paths penalizing low-trust nodes without cutting them off.</a:t>
            </a:r>
            <a:br/>
            <a:br/>
            <a:r>
              <a:t>Pros:</a:t>
            </a:r>
            <a:br/>
            <a:r>
              <a:t>• Preserves global network reachability.</a:t>
            </a:r>
            <a:br/>
            <a:r>
              <a:t>Risks:</a:t>
            </a:r>
            <a:br/>
            <a:r>
              <a:t>• Path stretch (higher latency on detour).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STRATEGY 3: Ingress Rate Limiting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Traffic Throttling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Impose token-bucket rate limiting on suspicious ingress buffers.</a:t>
            </a:r>
            <a:br/>
            <a:br/>
            <a:r>
              <a:t>Pros:</a:t>
            </a:r>
            <a:br/>
            <a:r>
              <a:t>• Neutralizes DoS buffer overflow.</a:t>
            </a:r>
            <a:br/>
            <a:r>
              <a:t>Risks:</a:t>
            </a:r>
            <a:br/>
            <a:r>
              <a:t>• Legitimate burst traffic dropped if false positive.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371600"/>
            <a:ext cx="26974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463040"/>
            <a:ext cx="2468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STRATEGY 4: Soft Reboot / Rollback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State Reset &amp; Power Boost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Command remote firmware soft-reset or transceiver TX power boost.</a:t>
            </a:r>
            <a:br/>
            <a:br/>
            <a:r>
              <a:t>Pros:</a:t>
            </a:r>
            <a:br/>
            <a:r>
              <a:t>• Recovers crashed nodes / overcomes jamming.</a:t>
            </a:r>
            <a:br/>
            <a:r>
              <a:t>Risks:</a:t>
            </a:r>
            <a:br/>
            <a:r>
              <a:t>• Transient reboot blackout delay (~5s).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8 - CORE RESEARCH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8: In-Silico Recovery Simulation &amp; Optimization (Core Contribution)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The In-Silico Predictive Sandbox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Why This is the Core Novelty:</a:t>
            </a:r>
            <a:br/>
            <a:r>
              <a:t>Most IoT security papers apply fixed heuristic mitigations (e.g. always isolate). In multi-hop mesh IoT networks, isolating a critical forwarder causes severe collateral partition.</a:t>
            </a:r>
            <a:br/>
            <a:br/>
            <a:r>
              <a:t>The Digital Twin Pre-Evaluation Workflow:</a:t>
            </a:r>
            <a:br/>
            <a:r>
              <a:t>1. Virtual State Cloned: Current Digital Twin state S(t) is cloned into temporary virtual sandboxes S_sandbox(k).</a:t>
            </a:r>
            <a:br/>
            <a:r>
              <a:t>2. Candidate Strategies Applied: In each sandbox, a distinct candidate strategy s_k from Phase 7 is executed.</a:t>
            </a:r>
            <a:br/>
            <a:r>
              <a:t>3. Lookahead Simulation: The Digital Twin forward-simulates network dynamics for horizon H in [10s, 30s, 60s].</a:t>
            </a:r>
            <a:br/>
            <a:r>
              <a:t>4. Consequences Estimated:</a:t>
            </a:r>
            <a:br/>
            <a:r>
              <a:t>   - Projected packet loss delta</a:t>
            </a:r>
            <a:br/>
            <a:r>
              <a:t>   - Projected latency path stretch</a:t>
            </a:r>
            <a:br/>
            <a:r>
              <a:t>   - Projected battery depletion on reroute hops</a:t>
            </a:r>
            <a:br/>
            <a:r>
              <a:t>   - Graph connectivity &amp; partition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Multi-Objective Cost Optimization J(s)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Optimal Strategy Selection Formulation:</a:t>
            </a:r>
            <a:br/>
            <a:br/>
            <a:r>
              <a:t>s* = argmin_{s_k in S} J(s_k)</a:t>
            </a:r>
            <a:br/>
            <a:br/>
            <a:r>
              <a:t>Where Cost Function J(s_k) is:</a:t>
            </a:r>
            <a:br/>
            <a:br/>
            <a:r>
              <a:t>J(s_k) = w_1 * (Delta_Latency / Latency_base) + </a:t>
            </a:r>
            <a:br/>
            <a:r>
              <a:t>         w_2 * Delta_Loss + </a:t>
            </a:r>
            <a:br/>
            <a:r>
              <a:t>         w_3 * (Delta_Energy / Energy_base) + </a:t>
            </a:r>
            <a:br/>
            <a:r>
              <a:t>         w_4 * Signaling_Overhead(s_k)</a:t>
            </a:r>
            <a:br/>
            <a:br/>
            <a:r>
              <a:t>Subject to Hard Constraints:</a:t>
            </a:r>
            <a:br/>
            <a:r>
              <a:t>• Network must remain connected: Connected_Components(G) == 1</a:t>
            </a:r>
            <a:br/>
            <a:r>
              <a:t>• Projected packet delivery ratio &gt; PDR_min (e.g. 0.90)</a:t>
            </a:r>
            <a:br/>
            <a:r>
              <a:t>• No routing loops: nx.is_directed_acyclic_graph(Routes) == True</a:t>
            </a:r>
            <a:br/>
            <a:br/>
            <a:r>
              <a:t>Guarantees that the chosen self-healing action is mathematically optimal and provably safe.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 9 -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 9: Autonomous Self-Healing &amp; Closed-Loop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Closed-Loop Actuation Dispatch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Actuation Policy Dispatcher:</a:t>
            </a:r>
            <a:br/>
            <a:r>
              <a:t>   Translates optimal strategy s* into compact downlink actuation frames:</a:t>
            </a:r>
            <a:br/>
            <a:r>
              <a:t>   - Reroute commands to 1-hop routing neighbors.</a:t>
            </a:r>
            <a:br/>
            <a:r>
              <a:t>   - Ingress rate-limit tokens to suspicious nodes.</a:t>
            </a:r>
            <a:br/>
            <a:r>
              <a:t>   - Downlink reboot triggers to failed/compromised nodes.</a:t>
            </a:r>
            <a:br/>
            <a:br/>
            <a:r>
              <a:t>• Closed-Loop Verification Loop:</a:t>
            </a:r>
            <a:br/>
            <a:r>
              <a:t>   Following actuation, the Digital Twin monitors incoming telemetry:</a:t>
            </a:r>
            <a:br/>
            <a:r>
              <a:t>   1. Has packet loss dropped back to baseline (P_loss &lt; 0.05)?</a:t>
            </a:r>
            <a:br/>
            <a:r>
              <a:t>   2. Has CPU utilization stabilized to nominal (&lt; 15%)?</a:t>
            </a:r>
            <a:br/>
            <a:r>
              <a:t>   3. Has network reachability been preserved (100% active nodes connected)?</a:t>
            </a:r>
            <a:br/>
            <a:br/>
            <a:r>
              <a:t>• Fallback Mechanism:</a:t>
            </a:r>
            <a:br/>
            <a:r>
              <a:t>   If verification fails within timeout T_verify, rollback to conservative safe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Resilience &amp; Recovery Metrics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Mean Time to Detect (MTTD):</a:t>
            </a:r>
            <a:br/>
            <a:r>
              <a:t>   MTTD = t_detect - t_attack_start</a:t>
            </a:r>
            <a:br/>
            <a:r>
              <a:t>   (Quantifies ML temporal responsiveness)</a:t>
            </a:r>
            <a:br/>
            <a:br/>
            <a:r>
              <a:t>• Mean Time to Recover (MTTR):</a:t>
            </a:r>
            <a:br/>
            <a:r>
              <a:t>   MTTR = t_restored - t_detect</a:t>
            </a:r>
            <a:br/>
            <a:r>
              <a:t>   (Quantifies DT simulation + actuation delay)</a:t>
            </a:r>
            <a:br/>
            <a:br/>
            <a:r>
              <a:t>• Quantitative Resilience Score (R):</a:t>
            </a:r>
            <a:br/>
            <a:r>
              <a:t>   Integral of Quality of Service recovery trajectory:</a:t>
            </a:r>
            <a:br/>
            <a:br/>
            <a:r>
              <a:t>   R = [Integral_{t0}^{t0+T} QoS(t) dt] / [QoS_nominal * T]</a:t>
            </a:r>
            <a:br/>
            <a:br/>
            <a:r>
              <a:t>   Where QoS(t) is defined as Packet Delivery Ratio (PDR) or Network Availability.</a:t>
            </a:r>
            <a:br/>
            <a:r>
              <a:t>   R = 1.0 indicates instantaneous, loss-free self-healing resilience.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PHASES 10 &amp; 11 -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Phases 10 &amp; 11: Dashboard &amp; Comparative Baseline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10: Research Monitoring Dashboard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Interactive Visual Telemetry (Streamlit / Plotly):</a:t>
            </a:r>
            <a:br/>
            <a:r>
              <a:t>   Academic visualization suite for live paper demonstrations.</a:t>
            </a:r>
            <a:br/>
            <a:br/>
            <a:r>
              <a:t>• Live Visual Components:</a:t>
            </a:r>
            <a:br/>
            <a:r>
              <a:t>   1. Real-Time Network Topology Map: Node status color-coded by connection and trust score.</a:t>
            </a:r>
            <a:br/>
            <a:r>
              <a:t>   2. Live Streaming Telemetry: Sliding time-series throughput, loss, latency, and CPU.</a:t>
            </a:r>
            <a:br/>
            <a:r>
              <a:t>   3. Physical vs Virtual Shadow Fidelity: Direct side-by-side comparison of physical node and Digital Twin state.</a:t>
            </a:r>
            <a:br/>
            <a:r>
              <a:t>   4. Attack Injection Control Panel: Manual trigger for DoS, compromised drop, or node failure.</a:t>
            </a:r>
            <a:br/>
            <a:r>
              <a:t>   5. Self-Healing Decision Audit Log: Explaining why candidate strategy s* was selected by J(s).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Phase 11: Comparative Experimental Baselines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Rigorous Evaluation Against 4 Baselines:</a:t>
            </a:r>
            <a:br/>
            <a:r>
              <a:t>• Baseline 1: No Detection / No Recovery</a:t>
            </a:r>
            <a:br/>
            <a:r>
              <a:t>   (Raw unmitigated attack degradation)</a:t>
            </a:r>
            <a:br/>
            <a:r>
              <a:t>• Baseline 2: Static Threshold + Fixed Isolation</a:t>
            </a:r>
            <a:br/>
            <a:r>
              <a:t>   (Traditional rule-based IDS; naive isolation)</a:t>
            </a:r>
            <a:br/>
            <a:r>
              <a:t>• Baseline 3: ML Detection + Fixed Recovery</a:t>
            </a:r>
            <a:br/>
            <a:r>
              <a:t>   (ML detection without DT pre-simulation)</a:t>
            </a:r>
            <a:br/>
            <a:r>
              <a:t>• Proposed Framework: ML Detection + Dynamic Trust + In-Silico DT Recovery Simulation + Autonomous Self-Healing</a:t>
            </a:r>
            <a:br/>
            <a:br/>
            <a:r>
              <a:t>Ablation Studies:</a:t>
            </a:r>
            <a:br/>
            <a:r>
              <a:t>• Sensitivity to lookahead horizon H (10s vs 30s vs 60s)</a:t>
            </a:r>
            <a:br/>
            <a:r>
              <a:t>• Sensitivity to cost weights w_1, w_2, w_3, w_4</a:t>
            </a:r>
            <a:br/>
            <a:r>
              <a:t>• Resilience under lossy telemetry channels.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PHASES 12 &amp; 13 -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Phases 12 &amp; 13: Scalability &amp; Physical Hardware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12: Scalability &amp; Stress Testing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Systematic Node Scaling:</a:t>
            </a:r>
            <a:br/>
            <a:r>
              <a:t>   N in {6, 10, 20, 50, 100} nodes.</a:t>
            </a:r>
            <a:br/>
            <a:br/>
            <a:r>
              <a:t>• Variable Traffic &amp; Attack Intensities:</a:t>
            </a:r>
            <a:br/>
            <a:r>
              <a:t>   - Nominal traffic: 2 pkts/s -&gt; Extreme stress: 20 pkts/s.</a:t>
            </a:r>
            <a:br/>
            <a:r>
              <a:t>   - Multi-attacker scenarios: 1 to 5 compromised nodes.</a:t>
            </a:r>
            <a:br/>
            <a:br/>
            <a:r>
              <a:t>• System Overhead Profiling:</a:t>
            </a:r>
            <a:br/>
            <a:r>
              <a:t>   - Ingestion throughput (records/sec).</a:t>
            </a:r>
            <a:br/>
            <a:r>
              <a:t>   - Digital Twin server CPU &amp; RAM consumption.</a:t>
            </a:r>
            <a:br/>
            <a:r>
              <a:t>   - Optimization solving time as a function of network size.</a:t>
            </a:r>
            <a:br/>
            <a:r>
              <a:t>   - Packet delivery ratio vs network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Phase 13: Physical ESP32 + LoRa Testbed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• Hardware Configuration:</a:t>
            </a:r>
            <a:br/>
            <a:r>
              <a:t>   4–6 ESP32 microcontrollers (Tensilica Xtensa LX6, 240MHz, 520KB SRAM) equipped with SX1276 LoRa transceivers.</a:t>
            </a:r>
            <a:br/>
            <a:br/>
            <a:r>
              <a:t>• Gateway Bridge Architecture:</a:t>
            </a:r>
            <a:br/>
            <a:r>
              <a:t>   - Physical LoRa gateway receives RF telemetry packets.</a:t>
            </a:r>
            <a:br/>
            <a:r>
              <a:t>   - Serial / MQTT bridge converts binary payload into invariant TelemetryRecord JSON stream.</a:t>
            </a:r>
            <a:br/>
            <a:br/>
            <a:r>
              <a:t>• Seamless Sim-to-Real Transfer:</a:t>
            </a:r>
            <a:br/>
            <a:r>
              <a:t>   The Digital Twin, ML detection engine, and recovery optimizer run UNCHANGED on the edge server.</a:t>
            </a:r>
            <a:br/>
            <a:br/>
            <a:r>
              <a:t>• Physical Actuation Verification:</a:t>
            </a:r>
            <a:br/>
            <a:r>
              <a:t>   LoRa downlink command triggers dynamic route table reconfig or deep sleep power state on real ESP32.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011680" cy="21945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RESEARCH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Scientific Rigor, Verification Summary &amp; Publication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441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Automated Test Suite (94 Tests PASS)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Test Coverage Breakdown:</a:t>
            </a:r>
            <a:br/>
            <a:r>
              <a:t>   - tests/test_node.py (5 tests): Energy decay, CPU scaling, bounds.</a:t>
            </a:r>
            <a:br/>
            <a:r>
              <a:t>   - tests/test_topology.py (28 tests): Grid, mesh, random, symmetry.</a:t>
            </a:r>
            <a:br/>
            <a:r>
              <a:t>   - tests/test_telemetry.py (18 tests): Out-of-bounds rejection.</a:t>
            </a:r>
            <a:br/>
            <a:r>
              <a:t>   - tests/test_simulator.py (5 tests): Determinism &amp; progression.</a:t>
            </a:r>
            <a:br/>
            <a:r>
              <a:t>   - tests/test_digital_twin.py (10 tests): History eviction, shadow.</a:t>
            </a:r>
            <a:br/>
            <a:r>
              <a:t>   - tests/test_attacks.py (17 tests): Boundaries, DoS, drop, non-interference.</a:t>
            </a:r>
            <a:br/>
            <a:r>
              <a:t>   - tests/test_phase2_integration.py (2 tests): End-to-end sync.</a:t>
            </a:r>
            <a:br/>
            <a:r>
              <a:t>   - tests/test_phase3_integration.py (2 tests): Multi-attack fidelity.</a:t>
            </a:r>
            <a:br/>
            <a:r>
              <a:t>   - tests/test_feature_engineering.py (7 tests): Causal non-leakage.</a:t>
            </a:r>
            <a:br/>
            <a:br/>
            <a:r>
              <a:t>• Scientific Integrity Principles:</a:t>
            </a:r>
            <a:br/>
            <a:r>
              <a:t>   - Zero fabricated results; all metrics empirically executed.</a:t>
            </a:r>
            <a:br/>
            <a:r>
              <a:t>   - Explicit distinction between software execution time and wireless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Target Flagship Publication Venues</a:t>
            </a:r>
          </a:p>
          <a:p>
            <a:pPr>
              <a:spcBef>
                <a:spcPts val="600"/>
              </a:spcBef>
              <a:defRPr sz="980">
                <a:solidFill>
                  <a:srgbClr val="64748B"/>
                </a:solidFill>
              </a:defRPr>
            </a:pPr>
            <a:r>
              <a:t>Primary Journal Targets (Q1 / Top Tier):</a:t>
            </a:r>
            <a:br/>
            <a:r>
              <a:t>• IEEE Internet of Things Journal (IEEE IoT-J)</a:t>
            </a:r>
            <a:br/>
            <a:r>
              <a:t>   - Focus: Digital Twin telemetry, ML anomaly detection, LoRa evaluation.</a:t>
            </a:r>
            <a:br/>
            <a:r>
              <a:t>• IEEE Transactions on Industrial Informatics (IEEE TII)</a:t>
            </a:r>
            <a:br/>
            <a:r>
              <a:t>   - Focus: Autonomous resilience, self-healing closed-loop control.</a:t>
            </a:r>
            <a:br/>
            <a:r>
              <a:t>• Elsevier Computer Networks / JNCA</a:t>
            </a:r>
            <a:br/>
            <a:r>
              <a:t>   - Focus: Scalable IoT network simulation and multi-objective optimization.</a:t>
            </a:r>
            <a:br/>
            <a:br/>
            <a:r>
              <a:t>Target Conference Tracks:</a:t>
            </a:r>
            <a:br/>
            <a:r>
              <a:t>• IEEE INFOCOM / GLOBECOM / ICC</a:t>
            </a:r>
            <a:br/>
            <a:r>
              <a:t>   - Focus: Real-time Digital Twin state synchronization and in-silico mitigation.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SUMMARY &amp; IMMEDIATE NEXT STEPS</a:t>
            </a:r>
          </a:p>
          <a:p>
            <a:pPr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Solid Foundation Established across Phases 1 to 4</a:t>
            </a:r>
          </a:p>
          <a:p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• Complete reproducibility established: 94 unit and integration tests passing.</a:t>
            </a:r>
            <a:br/>
            <a:r>
              <a:t>• Physics-coupled IoT network simulation engine operational.</a:t>
            </a:r>
            <a:br/>
            <a:r>
              <a:t>• Sub-millisecond Digital Twin virtual shadow synchronization verified.</a:t>
            </a:r>
            <a:br/>
            <a:r>
              <a:t>• Multi-vector attack injection (DoS, selective drop, node failure) validated.</a:t>
            </a:r>
            <a:br/>
            <a:r>
              <a:t>• 95 multi-scale temporal and spatial features extracted with zero data leakage.</a:t>
            </a:r>
            <a:br/>
            <a:br/>
            <a:r>
              <a:t>IMMEDIATE ACTION (PHASE 5):</a:t>
            </a:r>
            <a:br/>
            <a:r>
              <a:t>Ready to implement the Machine Learning Detection Engine:</a:t>
            </a:r>
            <a:br/>
            <a:r>
              <a:t>• Train interpretable baselines (Logistic Regression, Random Forest, XGBoost).</a:t>
            </a:r>
            <a:br/>
            <a:r>
              <a:t>• Benchmark accuracy, F1, ROC-AUC, FPR, FNR, and inference latency.</a:t>
            </a:r>
            <a:br/>
            <a:r>
              <a:t>• Evaluate generalization on chronological and cross-seed test splits.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